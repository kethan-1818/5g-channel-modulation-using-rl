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4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Calibri"/>
              </a:rPr>
              <a:t>FRIDAY DEPLOYMENT CLUB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8FAFC"/>
                </a:solidFill>
                <a:latin typeface="Calibri"/>
              </a:rPr>
              <a:t>DevOps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4A3B8"/>
                </a:solidFill>
                <a:latin typeface="Calibri"/>
              </a:rPr>
              <a:t>DAY 2  ·  Your Complete Learning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Calibri"/>
              </a:rPr>
              <a:t>Build  ·  Automate  ·  Monitor  ·  Deploy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vops_roadmap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Calibri"/>
              </a:rPr>
              <a:t>The DevOps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5 phases  ·  10 stops  ·  One learning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86868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Foundations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Linux · Bash · Git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182112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1 Foundations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685032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611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2 Source Control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6352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53512" y="1554480"/>
            <a:ext cx="86868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3512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Containers &amp; 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Docker · Jenkins · GitHub Actions</a:t>
            </a:r>
          </a:p>
        </p:txBody>
      </p:sp>
      <p:sp>
        <p:nvSpPr>
          <p:cNvPr id="16" name="Oval 15"/>
          <p:cNvSpPr/>
          <p:nvPr/>
        </p:nvSpPr>
        <p:spPr>
          <a:xfrm>
            <a:off x="2999232" y="3182112"/>
            <a:ext cx="109728" cy="109728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3 Containerization</a:t>
            </a:r>
          </a:p>
        </p:txBody>
      </p:sp>
      <p:sp>
        <p:nvSpPr>
          <p:cNvPr id="18" name="Oval 17"/>
          <p:cNvSpPr/>
          <p:nvPr/>
        </p:nvSpPr>
        <p:spPr>
          <a:xfrm>
            <a:off x="2999232" y="3685032"/>
            <a:ext cx="109728" cy="109728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3611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4 CI/CD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9784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66944" y="1554480"/>
            <a:ext cx="868680" cy="320040"/>
          </a:xfrm>
          <a:prstGeom prst="round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AWS Core Services</a:t>
            </a:r>
          </a:p>
        </p:txBody>
      </p:sp>
      <p:sp>
        <p:nvSpPr>
          <p:cNvPr id="24" name="Oval 23"/>
          <p:cNvSpPr/>
          <p:nvPr/>
        </p:nvSpPr>
        <p:spPr>
          <a:xfrm>
            <a:off x="5312664" y="3182112"/>
            <a:ext cx="109728" cy="109728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13832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5 Cloud Platforms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43216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80376" y="1554480"/>
            <a:ext cx="8686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0376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Infrastructure &amp; Orchestration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0376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IaC · Config · K8s · GitOps</a:t>
            </a:r>
          </a:p>
        </p:txBody>
      </p:sp>
      <p:sp>
        <p:nvSpPr>
          <p:cNvPr id="30" name="Oval 29"/>
          <p:cNvSpPr/>
          <p:nvPr/>
        </p:nvSpPr>
        <p:spPr>
          <a:xfrm>
            <a:off x="7626096" y="3182112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27264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6 IaC</a:t>
            </a:r>
          </a:p>
        </p:txBody>
      </p:sp>
      <p:sp>
        <p:nvSpPr>
          <p:cNvPr id="32" name="Oval 31"/>
          <p:cNvSpPr/>
          <p:nvPr/>
        </p:nvSpPr>
        <p:spPr>
          <a:xfrm>
            <a:off x="7626096" y="3685032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3611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7 Config</a:t>
            </a:r>
          </a:p>
        </p:txBody>
      </p:sp>
      <p:sp>
        <p:nvSpPr>
          <p:cNvPr id="34" name="Oval 33"/>
          <p:cNvSpPr/>
          <p:nvPr/>
        </p:nvSpPr>
        <p:spPr>
          <a:xfrm>
            <a:off x="7626096" y="4187952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27264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8 Kubernetes</a:t>
            </a:r>
          </a:p>
        </p:txBody>
      </p:sp>
      <p:sp>
        <p:nvSpPr>
          <p:cNvPr id="36" name="Oval 35"/>
          <p:cNvSpPr/>
          <p:nvPr/>
        </p:nvSpPr>
        <p:spPr>
          <a:xfrm>
            <a:off x="7626096" y="4690872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27264" y="4617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10 GitOps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56648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93808" y="1554480"/>
            <a:ext cx="86868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93808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Security &amp; Monitoring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Secure · Observe · Alert</a:t>
            </a:r>
          </a:p>
        </p:txBody>
      </p:sp>
      <p:sp>
        <p:nvSpPr>
          <p:cNvPr id="42" name="Oval 41"/>
          <p:cNvSpPr/>
          <p:nvPr/>
        </p:nvSpPr>
        <p:spPr>
          <a:xfrm>
            <a:off x="9939528" y="3182112"/>
            <a:ext cx="109728" cy="10972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0696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9 Security</a:t>
            </a:r>
          </a:p>
        </p:txBody>
      </p:sp>
      <p:sp>
        <p:nvSpPr>
          <p:cNvPr id="44" name="Oval 43"/>
          <p:cNvSpPr/>
          <p:nvPr/>
        </p:nvSpPr>
        <p:spPr>
          <a:xfrm>
            <a:off x="9939528" y="3685032"/>
            <a:ext cx="109728" cy="10972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0696" y="3611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10 Observability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806440"/>
            <a:ext cx="1115568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8978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472B6"/>
                </a:solidFill>
                <a:latin typeface="Calibri"/>
              </a:rPr>
              <a:t>GOAL →  BUILD   ·   AUTOMATE   ·   MONITOR   ·   DEPLOY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8FAFC"/>
                </a:solidFill>
                <a:latin typeface="Calibri"/>
              </a:rPr>
              <a:t>DEVOPS ROADMAP 2025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685800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795528"/>
            <a:ext cx="41148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7589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06984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Linux · Bash · Git</a:t>
            </a:r>
          </a:p>
        </p:txBody>
      </p:sp>
      <p:pic>
        <p:nvPicPr>
          <p:cNvPr id="7" name="Picture 6" descr="lin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886968"/>
            <a:ext cx="347472" cy="347472"/>
          </a:xfrm>
          <a:prstGeom prst="rect">
            <a:avLst/>
          </a:prstGeom>
        </p:spPr>
      </p:pic>
      <p:pic>
        <p:nvPicPr>
          <p:cNvPr id="8" name="Picture 7" descr="b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886968"/>
            <a:ext cx="347472" cy="347472"/>
          </a:xfrm>
          <a:prstGeom prst="rect">
            <a:avLst/>
          </a:prstGeom>
        </p:spPr>
      </p:pic>
      <p:pic>
        <p:nvPicPr>
          <p:cNvPr id="9" name="Picture 8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886968"/>
            <a:ext cx="347472" cy="3474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309360" y="685800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795528"/>
            <a:ext cx="41148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7589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Source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06984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Branches · PRs · Reviews</a:t>
            </a:r>
          </a:p>
        </p:txBody>
      </p:sp>
      <p:pic>
        <p:nvPicPr>
          <p:cNvPr id="14" name="Picture 13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886968"/>
            <a:ext cx="347472" cy="34747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65760" y="1801368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1911096"/>
            <a:ext cx="41148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1874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Containerization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8541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Docker</a:t>
            </a:r>
          </a:p>
        </p:txBody>
      </p:sp>
      <p:pic>
        <p:nvPicPr>
          <p:cNvPr id="19" name="Picture 18" descr="dock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2002536"/>
            <a:ext cx="347472" cy="347472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309360" y="1801368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1911096"/>
            <a:ext cx="41148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74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CI / 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18541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Jenkins · GH Actions</a:t>
            </a:r>
          </a:p>
        </p:txBody>
      </p:sp>
      <p:pic>
        <p:nvPicPr>
          <p:cNvPr id="24" name="Picture 23" descr="jenki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0" y="2002536"/>
            <a:ext cx="347472" cy="347472"/>
          </a:xfrm>
          <a:prstGeom prst="rect">
            <a:avLst/>
          </a:prstGeom>
        </p:spPr>
      </p:pic>
      <p:pic>
        <p:nvPicPr>
          <p:cNvPr id="25" name="Picture 24" descr="githubacti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1008" y="2002536"/>
            <a:ext cx="347472" cy="347472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365760" y="2916936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7200" y="3026664"/>
            <a:ext cx="411480" cy="320040"/>
          </a:xfrm>
          <a:prstGeom prst="round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29900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Cloud — AWS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3009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EC2 · VPC · IAM · S3 · ECS · EKS</a:t>
            </a:r>
          </a:p>
        </p:txBody>
      </p:sp>
      <p:pic>
        <p:nvPicPr>
          <p:cNvPr id="30" name="Picture 29" descr="amazonaw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3360" y="3118104"/>
            <a:ext cx="347472" cy="347472"/>
          </a:xfrm>
          <a:prstGeom prst="rect">
            <a:avLst/>
          </a:prstGeom>
        </p:spPr>
      </p:pic>
      <p:pic>
        <p:nvPicPr>
          <p:cNvPr id="31" name="Picture 30" descr="googleclou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7408" y="3118104"/>
            <a:ext cx="347472" cy="347472"/>
          </a:xfrm>
          <a:prstGeom prst="rect">
            <a:avLst/>
          </a:prstGeom>
        </p:spPr>
      </p:pic>
      <p:pic>
        <p:nvPicPr>
          <p:cNvPr id="32" name="Picture 31" descr="microsoftazu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91456" y="3118104"/>
            <a:ext cx="347472" cy="34747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09360" y="2916936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0" y="3026664"/>
            <a:ext cx="4114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29900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Infrastructure as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33009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Terraform · CloudFormation</a:t>
            </a:r>
          </a:p>
        </p:txBody>
      </p:sp>
      <p:pic>
        <p:nvPicPr>
          <p:cNvPr id="37" name="Picture 36" descr="terraform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66960" y="3118104"/>
            <a:ext cx="347472" cy="347472"/>
          </a:xfrm>
          <a:prstGeom prst="rect">
            <a:avLst/>
          </a:prstGeom>
        </p:spPr>
      </p:pic>
      <p:pic>
        <p:nvPicPr>
          <p:cNvPr id="38" name="Picture 37" descr="cloudformati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51008" y="3118104"/>
            <a:ext cx="347472" cy="347472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365760" y="4032504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7200" y="4142232"/>
            <a:ext cx="4114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10565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Config &amp; Automation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4165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Ansible · AWS SSM</a:t>
            </a:r>
          </a:p>
        </p:txBody>
      </p:sp>
      <p:pic>
        <p:nvPicPr>
          <p:cNvPr id="43" name="Picture 42" descr="ansibl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23360" y="4233672"/>
            <a:ext cx="347472" cy="347472"/>
          </a:xfrm>
          <a:prstGeom prst="rect">
            <a:avLst/>
          </a:prstGeom>
        </p:spPr>
      </p:pic>
      <p:pic>
        <p:nvPicPr>
          <p:cNvPr id="44" name="Picture 43" descr="amazonaw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7408" y="4233672"/>
            <a:ext cx="347472" cy="347472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6309360" y="4032504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00800" y="4142232"/>
            <a:ext cx="4114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410565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Kubernetes &amp; Helm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44165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Scale · Manage · Deploy</a:t>
            </a:r>
          </a:p>
        </p:txBody>
      </p:sp>
      <p:pic>
        <p:nvPicPr>
          <p:cNvPr id="49" name="Picture 48" descr="kubernete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66960" y="4233672"/>
            <a:ext cx="347472" cy="347472"/>
          </a:xfrm>
          <a:prstGeom prst="rect">
            <a:avLst/>
          </a:prstGeom>
        </p:spPr>
      </p:pic>
      <p:pic>
        <p:nvPicPr>
          <p:cNvPr id="50" name="Picture 49" descr="helm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51008" y="4233672"/>
            <a:ext cx="347472" cy="347472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365760" y="5148072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57200" y="5257800"/>
            <a:ext cx="41148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522122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Security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5532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IAM · Scanning · Secrets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09360" y="5148072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400800" y="5257800"/>
            <a:ext cx="41148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3720" y="522122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Observability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03720" y="5532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Prometheus · Grafana · Logs</a:t>
            </a:r>
          </a:p>
        </p:txBody>
      </p:sp>
      <p:pic>
        <p:nvPicPr>
          <p:cNvPr id="59" name="Picture 58" descr="prometheu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966960" y="5349240"/>
            <a:ext cx="347472" cy="347472"/>
          </a:xfrm>
          <a:prstGeom prst="rect">
            <a:avLst/>
          </a:prstGeom>
        </p:spPr>
      </p:pic>
      <p:pic>
        <p:nvPicPr>
          <p:cNvPr id="60" name="Picture 59" descr="grafan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351008" y="5349240"/>
            <a:ext cx="347472" cy="347472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365760" y="6263640"/>
            <a:ext cx="11430000" cy="5029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63367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GitOps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ArgoCD · Flux · Git-driven deploys</a:t>
            </a:r>
          </a:p>
        </p:txBody>
      </p:sp>
      <p:pic>
        <p:nvPicPr>
          <p:cNvPr id="64" name="Picture 63" descr="argoc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601200" y="6336792"/>
            <a:ext cx="347472" cy="347472"/>
          </a:xfrm>
          <a:prstGeom prst="rect">
            <a:avLst/>
          </a:prstGeom>
        </p:spPr>
      </p:pic>
      <p:pic>
        <p:nvPicPr>
          <p:cNvPr id="65" name="Picture 64" descr="flux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012680" y="6336792"/>
            <a:ext cx="347472" cy="347472"/>
          </a:xfrm>
          <a:prstGeom prst="rect">
            <a:avLst/>
          </a:prstGeom>
        </p:spPr>
      </p:pic>
      <p:pic>
        <p:nvPicPr>
          <p:cNvPr id="66" name="Picture 65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6336792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Linux  ·  Bash  ·  Git  ·  ~2–3 weeks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1064240" cy="4114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n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233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Linux</a:t>
            </a:r>
          </a:p>
        </p:txBody>
      </p:sp>
      <p:pic>
        <p:nvPicPr>
          <p:cNvPr id="9" name="Picture 8" descr="b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28600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21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Bash</a:t>
            </a:r>
          </a:p>
        </p:txBody>
      </p:sp>
      <p:pic>
        <p:nvPicPr>
          <p:cNvPr id="11" name="Picture 10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2286000"/>
            <a:ext cx="5943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4747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Calibri"/>
              </a:rPr>
              <a:t>▸  Navigate Linux terminals &amp; file systems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9776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Calibri"/>
              </a:rPr>
              <a:t>▸  Automate tasks with Bash scripts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Calibri"/>
              </a:rPr>
              <a:t>▸  Track code changes with Git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Calibri"/>
              </a:rPr>
              <a:t>Series Days 3–9 cover these in depth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Git for real-world team workflows</a:t>
            </a:r>
          </a:p>
        </p:txBody>
      </p:sp>
      <p:pic>
        <p:nvPicPr>
          <p:cNvPr id="6" name="Picture 5" descr="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01168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57800" y="2971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3474720"/>
            <a:ext cx="438912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6118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Branches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474720"/>
            <a:ext cx="438912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6118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Pull Requests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480560"/>
            <a:ext cx="438912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46177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Code Reviews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480560"/>
            <a:ext cx="438912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6177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Merge Conflicts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Package apps + dependencies into portable containers</a:t>
            </a:r>
          </a:p>
        </p:txBody>
      </p:sp>
      <p:pic>
        <p:nvPicPr>
          <p:cNvPr id="6" name="Picture 5" descr="do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82880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57800" y="28803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Docker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1645920" cy="82296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8FAFC"/>
                </a:solidFill>
                <a:latin typeface="Calibri"/>
              </a:rPr>
              <a:t>Your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566160"/>
            <a:ext cx="1645920" cy="82296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703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8FAFC"/>
                </a:solidFill>
                <a:latin typeface="Calibri"/>
              </a:rPr>
              <a:t>Container 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59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3566160"/>
            <a:ext cx="1645920" cy="82296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3703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8FAFC"/>
                </a:solidFill>
                <a:latin typeface="Calibri"/>
              </a:rPr>
              <a:t>Runs Anywhere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B923C"/>
                </a:solidFill>
                <a:latin typeface="Calibri"/>
              </a:rPr>
              <a:t>Solves: "It works on my machine"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CI / 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Automate build · test · deploy pipelines</a:t>
            </a:r>
          </a:p>
        </p:txBody>
      </p:sp>
      <p:pic>
        <p:nvPicPr>
          <p:cNvPr id="6" name="Picture 5" descr="jenk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210312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Jenkins</a:t>
            </a:r>
          </a:p>
        </p:txBody>
      </p:sp>
      <p:pic>
        <p:nvPicPr>
          <p:cNvPr id="8" name="Picture 7" descr="github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0312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GitHub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657600"/>
            <a:ext cx="2011680" cy="777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947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Calibri"/>
              </a:rPr>
              <a:t>Push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7947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3657600"/>
            <a:ext cx="2011680" cy="777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37947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Calibri"/>
              </a:rPr>
              <a:t>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37947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657600"/>
            <a:ext cx="2011680" cy="777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7947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Calibri"/>
              </a:rPr>
              <a:t>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7947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3657600"/>
            <a:ext cx="2011680" cy="777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37947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Calibri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Less manual work  ·  Faster releases  ·  Fewer mistakes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Cloud Platforms —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Core services every DevOps engineer needs</a:t>
            </a:r>
          </a:p>
        </p:txBody>
      </p:sp>
      <p:pic>
        <p:nvPicPr>
          <p:cNvPr id="6" name="Picture 5" descr="amazon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55448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21945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AWS</a:t>
            </a:r>
          </a:p>
        </p:txBody>
      </p:sp>
      <p:pic>
        <p:nvPicPr>
          <p:cNvPr id="8" name="Picture 7" descr="google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55448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69680" y="21945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GCP</a:t>
            </a:r>
          </a:p>
        </p:txBody>
      </p:sp>
      <p:pic>
        <p:nvPicPr>
          <p:cNvPr id="10" name="Picture 9" descr="microsoftaz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1554480"/>
            <a:ext cx="594360" cy="594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40" y="21945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Azure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560320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EC2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Virtual Machines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560320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VPC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Networking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560320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IAM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Access &amp; Permissions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2560320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S3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Object Storage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069079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2062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ALB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6177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Load Balancer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4069079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03320" y="42062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ECS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46177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Containers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069079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42062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EKS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6177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Kubernetes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Calibri"/>
              </a:rPr>
              <a:t>One video · One concept · One service at a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Define infrastructure in code — repeatable &amp; version-controlled</a:t>
            </a:r>
          </a:p>
        </p:txBody>
      </p:sp>
      <p:pic>
        <p:nvPicPr>
          <p:cNvPr id="6" name="Picture 5" descr="terra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28600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661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Terraform</a:t>
            </a:r>
          </a:p>
        </p:txBody>
      </p:sp>
      <p:pic>
        <p:nvPicPr>
          <p:cNvPr id="8" name="Picture 7" descr="cloudform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8600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CloudFormation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78BFA"/>
                </a:solidFill>
                <a:latin typeface="Calibri"/>
              </a:rPr>
              <a:t>Code  →  Plan  →  Apply  →  Reusable Infrastructure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Configuration &amp;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Terraform creates it · Ansible configures it</a:t>
            </a:r>
          </a:p>
        </p:txBody>
      </p:sp>
      <p:pic>
        <p:nvPicPr>
          <p:cNvPr id="6" name="Picture 5" descr="an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28600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661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Ansible</a:t>
            </a:r>
          </a:p>
        </p:txBody>
      </p:sp>
      <p:pic>
        <p:nvPicPr>
          <p:cNvPr id="8" name="Picture 7" descr="amazon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8600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AWS SSM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Install software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Create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251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Manage settings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251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Multi-server automation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Kubernetes &amp; Helm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Run, scale &amp; manage containers at production scale</a:t>
            </a:r>
          </a:p>
        </p:txBody>
      </p:sp>
      <p:pic>
        <p:nvPicPr>
          <p:cNvPr id="6" name="Picture 5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0312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6616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Kubernetes</a:t>
            </a:r>
          </a:p>
        </p:txBody>
      </p:sp>
      <p:pic>
        <p:nvPicPr>
          <p:cNvPr id="8" name="Picture 7" descr="he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0312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Helm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657600"/>
            <a:ext cx="3108960" cy="10058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7947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78BFA"/>
                </a:solidFill>
                <a:latin typeface="Calibri"/>
              </a:rPr>
              <a:t>Auto-restart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1605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Failed containers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657600"/>
            <a:ext cx="3108960" cy="10058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7947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78BFA"/>
                </a:solidFill>
                <a:latin typeface="Calibri"/>
              </a:rPr>
              <a:t>Auto-scale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1605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Traffic spikes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657600"/>
            <a:ext cx="3108960" cy="10058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37947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78BFA"/>
                </a:solidFill>
                <a:latin typeface="Calibri"/>
              </a:rPr>
              <a:t>Helm charts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1605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App deployment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Protect access, scan for vulnerabilities, stay compliant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011680"/>
            <a:ext cx="941832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21214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Calibri"/>
              </a:rPr>
              <a:t>IAM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Least privilege · Roles · Policies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246120"/>
            <a:ext cx="941832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33558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Calibri"/>
              </a:rPr>
              <a:t>Vulnerability Scanning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7216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Images · Dependencies · Configs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480560"/>
            <a:ext cx="941832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459028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Calibri"/>
              </a:rPr>
              <a:t>Secrets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9560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Credentials · Keys · Tokens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Metrics · Dashboards · Logs · Alerts</a:t>
            </a:r>
          </a:p>
        </p:txBody>
      </p:sp>
      <p:pic>
        <p:nvPicPr>
          <p:cNvPr id="6" name="Picture 5" descr="promethe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01168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08960" y="26517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Prometheus</a:t>
            </a:r>
          </a:p>
        </p:txBody>
      </p:sp>
      <p:pic>
        <p:nvPicPr>
          <p:cNvPr id="8" name="Picture 7" descr="graf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01168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60" y="26517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Grafana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011680"/>
            <a:ext cx="91440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2402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4D399"/>
                </a:solidFill>
                <a:latin typeface="Calibri"/>
              </a:rPr>
              <a:t>Logs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What's happening?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Why is it slow?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What broke?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Alert the team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Git as the Source of Truth for Deployments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ArgoCD · Flux · Git-driven deploys</a:t>
            </a:r>
          </a:p>
        </p:txBody>
      </p:sp>
      <p:pic>
        <p:nvPicPr>
          <p:cNvPr id="6" name="Picture 5" descr="argo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10312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ArgoCD</a:t>
            </a:r>
          </a:p>
        </p:txBody>
      </p:sp>
      <p:pic>
        <p:nvPicPr>
          <p:cNvPr id="8" name="Picture 7" descr="flu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10312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3776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Flux</a:t>
            </a:r>
          </a:p>
        </p:txBody>
      </p:sp>
      <p:pic>
        <p:nvPicPr>
          <p:cNvPr id="10" name="Picture 9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03120"/>
            <a:ext cx="594360" cy="594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78BFA"/>
                </a:solidFill>
                <a:latin typeface="Calibri"/>
              </a:rPr>
              <a:t>Git commit  →  Sync  →  Cluster matches desired state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8FAFC"/>
                </a:solidFill>
                <a:latin typeface="Calibri"/>
              </a:rPr>
              <a:t>The DevOps Goal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286000"/>
            <a:ext cx="2377440" cy="23774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2D3EE"/>
                </a:solidFill>
                <a:latin typeface="Calibri"/>
              </a:rPr>
              <a:t>BUILD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2286000"/>
            <a:ext cx="2377440" cy="23774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30632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B923C"/>
                </a:solidFill>
                <a:latin typeface="Calibri"/>
              </a:rPr>
              <a:t>AUTOMATE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86000"/>
            <a:ext cx="2377440" cy="23774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30632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34D399"/>
                </a:solidFill>
                <a:latin typeface="Calibri"/>
              </a:rPr>
              <a:t>MONITOR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286000"/>
            <a:ext cx="2377440" cy="23774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30632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472B6"/>
                </a:solidFill>
                <a:latin typeface="Calibri"/>
              </a:rPr>
              <a:t>DEPLOY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Calibri"/>
              </a:rPr>
              <a:t>That's the core of DevOps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8FAFC"/>
                </a:solidFill>
                <a:latin typeface="Calibri"/>
              </a:rPr>
              <a:t>Beyond DevOps → AI &amp; Modern Tech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6459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019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MLOps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6459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9019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AI Pipelines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9019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Local LLMs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0175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735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AI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0175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Emerging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Friday Deployment Club — building modern tech skills step by step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472B6"/>
                </a:solidFill>
                <a:latin typeface="Calibri"/>
              </a:rPr>
              <a:t>Day 2 Challenge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645920"/>
            <a:ext cx="502920" cy="32004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62763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8FAFC"/>
                </a:solidFill>
                <a:latin typeface="Calibri"/>
              </a:rPr>
              <a:t>Screenshot the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834640"/>
            <a:ext cx="502920" cy="32004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816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8FAFC"/>
                </a:solidFill>
                <a:latin typeface="Calibri"/>
              </a:rPr>
              <a:t>Circle your top 3 topics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023360"/>
            <a:ext cx="502920" cy="32004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00507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8FAFC"/>
                </a:solidFill>
                <a:latin typeface="Calibri"/>
              </a:rPr>
              <a:t>Comment them below 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D3EE"/>
                </a:solidFill>
                <a:latin typeface="Calibri"/>
              </a:rPr>
              <a:t>NEXT → Day 3: Linux Terminal · File System · 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Learn it. Build it. Ship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