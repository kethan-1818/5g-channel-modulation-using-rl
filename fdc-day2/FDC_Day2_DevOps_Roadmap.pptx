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141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D3EE"/>
                </a:solidFill>
                <a:latin typeface="Calibri"/>
              </a:rPr>
              <a:t>FRIDAY DEPLOYMENT CLUB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8FAFC"/>
                </a:solidFill>
                <a:latin typeface="Calibri"/>
              </a:rPr>
              <a:t>DevOps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4A3B8"/>
                </a:solidFill>
                <a:latin typeface="Calibri"/>
              </a:rPr>
              <a:t>DAY 2  ·  Your Complete Learning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49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Calibri"/>
              </a:rPr>
              <a:t>Build  ·  Automate  ·  Monitor  ·  Deploy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Calibri"/>
              </a:rPr>
              <a:t>The DevOps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5 phases  ·  10 stops  ·  One learning path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148840" cy="4206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868680" cy="32004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874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Foundations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Linux · Bash · Git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3182112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3108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1 Foundations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685032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6118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2 Source Control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16352" y="1417320"/>
            <a:ext cx="2148840" cy="4206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53512" y="1554480"/>
            <a:ext cx="868680" cy="320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PHASE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3512" y="1965960"/>
            <a:ext cx="1874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Containers &amp; CI/CD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251460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Docker · Jenkins · GitHub Actions</a:t>
            </a:r>
          </a:p>
        </p:txBody>
      </p:sp>
      <p:sp>
        <p:nvSpPr>
          <p:cNvPr id="16" name="Oval 15"/>
          <p:cNvSpPr/>
          <p:nvPr/>
        </p:nvSpPr>
        <p:spPr>
          <a:xfrm>
            <a:off x="2999232" y="3182112"/>
            <a:ext cx="109728" cy="109728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3108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3 Containerization</a:t>
            </a:r>
          </a:p>
        </p:txBody>
      </p:sp>
      <p:sp>
        <p:nvSpPr>
          <p:cNvPr id="18" name="Oval 17"/>
          <p:cNvSpPr/>
          <p:nvPr/>
        </p:nvSpPr>
        <p:spPr>
          <a:xfrm>
            <a:off x="2999232" y="3685032"/>
            <a:ext cx="109728" cy="109728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36118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4 CI/CD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9784" y="1417320"/>
            <a:ext cx="2148840" cy="4206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66944" y="1554480"/>
            <a:ext cx="868680" cy="320040"/>
          </a:xfrm>
          <a:prstGeom prst="round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PHASE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66944" y="1965960"/>
            <a:ext cx="1874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Cloud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6944" y="251460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AWS Core Services</a:t>
            </a:r>
          </a:p>
        </p:txBody>
      </p:sp>
      <p:sp>
        <p:nvSpPr>
          <p:cNvPr id="24" name="Oval 23"/>
          <p:cNvSpPr/>
          <p:nvPr/>
        </p:nvSpPr>
        <p:spPr>
          <a:xfrm>
            <a:off x="5312664" y="3182112"/>
            <a:ext cx="109728" cy="109728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13832" y="3108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5 Cloud Platforms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43216" y="1417320"/>
            <a:ext cx="2148840" cy="4206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80376" y="1554480"/>
            <a:ext cx="86868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PHASE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0376" y="1965960"/>
            <a:ext cx="1874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Infrastructure &amp; Orchestration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0376" y="251460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IaC · Config · K8s · GitOps</a:t>
            </a:r>
          </a:p>
        </p:txBody>
      </p:sp>
      <p:sp>
        <p:nvSpPr>
          <p:cNvPr id="30" name="Oval 29"/>
          <p:cNvSpPr/>
          <p:nvPr/>
        </p:nvSpPr>
        <p:spPr>
          <a:xfrm>
            <a:off x="7626096" y="3182112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27264" y="3108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6 IaC</a:t>
            </a:r>
          </a:p>
        </p:txBody>
      </p:sp>
      <p:sp>
        <p:nvSpPr>
          <p:cNvPr id="32" name="Oval 31"/>
          <p:cNvSpPr/>
          <p:nvPr/>
        </p:nvSpPr>
        <p:spPr>
          <a:xfrm>
            <a:off x="7626096" y="3685032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36118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7 Config</a:t>
            </a:r>
          </a:p>
        </p:txBody>
      </p:sp>
      <p:sp>
        <p:nvSpPr>
          <p:cNvPr id="34" name="Oval 33"/>
          <p:cNvSpPr/>
          <p:nvPr/>
        </p:nvSpPr>
        <p:spPr>
          <a:xfrm>
            <a:off x="7626096" y="4187952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27264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8 Kubernetes</a:t>
            </a:r>
          </a:p>
        </p:txBody>
      </p:sp>
      <p:sp>
        <p:nvSpPr>
          <p:cNvPr id="36" name="Oval 35"/>
          <p:cNvSpPr/>
          <p:nvPr/>
        </p:nvSpPr>
        <p:spPr>
          <a:xfrm>
            <a:off x="7626096" y="4690872"/>
            <a:ext cx="109728" cy="109728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27264" y="4617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10 GitOps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56648" y="1417320"/>
            <a:ext cx="2148840" cy="4206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893808" y="1554480"/>
            <a:ext cx="868680" cy="32004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PHASE 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93808" y="1965960"/>
            <a:ext cx="1874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Security &amp; Monitoring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8" y="2514600"/>
            <a:ext cx="1874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Secure · Observe · Alert</a:t>
            </a:r>
          </a:p>
        </p:txBody>
      </p:sp>
      <p:sp>
        <p:nvSpPr>
          <p:cNvPr id="42" name="Oval 41"/>
          <p:cNvSpPr/>
          <p:nvPr/>
        </p:nvSpPr>
        <p:spPr>
          <a:xfrm>
            <a:off x="9939528" y="3182112"/>
            <a:ext cx="109728" cy="109728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0696" y="3108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9 Security</a:t>
            </a:r>
          </a:p>
        </p:txBody>
      </p:sp>
      <p:sp>
        <p:nvSpPr>
          <p:cNvPr id="44" name="Oval 43"/>
          <p:cNvSpPr/>
          <p:nvPr/>
        </p:nvSpPr>
        <p:spPr>
          <a:xfrm>
            <a:off x="9939528" y="3685032"/>
            <a:ext cx="109728" cy="109728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0696" y="36118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8FAFC"/>
                </a:solidFill>
                <a:latin typeface="Calibri"/>
              </a:rPr>
              <a:t>10 Observability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5806440"/>
            <a:ext cx="11155680" cy="6858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89788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472B6"/>
                </a:solidFill>
                <a:latin typeface="Calibri"/>
              </a:rPr>
              <a:t>GOAL →  BUILD   ·   AUTOMATE   ·   MONITOR   ·   DEPLOY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8FAFC"/>
                </a:solidFill>
                <a:latin typeface="Calibri"/>
              </a:rPr>
              <a:t>DEVOPS ROADMAP 2025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685800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795528"/>
            <a:ext cx="411480" cy="32004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7589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06984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Linux · Bash · Git</a:t>
            </a:r>
          </a:p>
        </p:txBody>
      </p:sp>
      <p:pic>
        <p:nvPicPr>
          <p:cNvPr id="7" name="Picture 6" descr="lin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886968"/>
            <a:ext cx="347472" cy="347472"/>
          </a:xfrm>
          <a:prstGeom prst="rect">
            <a:avLst/>
          </a:prstGeom>
        </p:spPr>
      </p:pic>
      <p:pic>
        <p:nvPicPr>
          <p:cNvPr id="8" name="Picture 7" descr="b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886968"/>
            <a:ext cx="347472" cy="347472"/>
          </a:xfrm>
          <a:prstGeom prst="rect">
            <a:avLst/>
          </a:prstGeom>
        </p:spPr>
      </p:pic>
      <p:pic>
        <p:nvPicPr>
          <p:cNvPr id="9" name="Picture 8" descr="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886968"/>
            <a:ext cx="347472" cy="3474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309360" y="685800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795528"/>
            <a:ext cx="411480" cy="32004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7589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Source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06984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Branches · PRs · Reviews</a:t>
            </a:r>
          </a:p>
        </p:txBody>
      </p:sp>
      <p:pic>
        <p:nvPicPr>
          <p:cNvPr id="14" name="Picture 13" descr="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886968"/>
            <a:ext cx="347472" cy="34747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65760" y="1801368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1911096"/>
            <a:ext cx="411480" cy="320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18745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Containerization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18541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Docker</a:t>
            </a:r>
          </a:p>
        </p:txBody>
      </p:sp>
      <p:pic>
        <p:nvPicPr>
          <p:cNvPr id="19" name="Picture 18" descr="dock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2002536"/>
            <a:ext cx="347472" cy="347472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309360" y="1801368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1911096"/>
            <a:ext cx="411480" cy="320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8745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CI / 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18541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Jenkins · GH Actions</a:t>
            </a:r>
          </a:p>
        </p:txBody>
      </p:sp>
      <p:pic>
        <p:nvPicPr>
          <p:cNvPr id="24" name="Picture 23" descr="jenki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6960" y="2002536"/>
            <a:ext cx="347472" cy="347472"/>
          </a:xfrm>
          <a:prstGeom prst="rect">
            <a:avLst/>
          </a:prstGeom>
        </p:spPr>
      </p:pic>
      <p:pic>
        <p:nvPicPr>
          <p:cNvPr id="25" name="Picture 24" descr="githubacti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51008" y="2002536"/>
            <a:ext cx="347472" cy="347472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365760" y="2916936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7200" y="3026664"/>
            <a:ext cx="411480" cy="320040"/>
          </a:xfrm>
          <a:prstGeom prst="round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29900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Cloud — AWS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330098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EC2 · VPC · IAM · S3 · ECS · EKS</a:t>
            </a:r>
          </a:p>
        </p:txBody>
      </p:sp>
      <p:pic>
        <p:nvPicPr>
          <p:cNvPr id="30" name="Picture 29" descr="amazonaw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23360" y="3118104"/>
            <a:ext cx="347472" cy="347472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6309360" y="2916936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0" y="3026664"/>
            <a:ext cx="41148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29900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Infrastructure as Code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330098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Terraform · CloudFormation</a:t>
            </a:r>
          </a:p>
        </p:txBody>
      </p:sp>
      <p:pic>
        <p:nvPicPr>
          <p:cNvPr id="35" name="Picture 34" descr="terraform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6960" y="3118104"/>
            <a:ext cx="347472" cy="347472"/>
          </a:xfrm>
          <a:prstGeom prst="rect">
            <a:avLst/>
          </a:prstGeom>
        </p:spPr>
      </p:pic>
      <p:pic>
        <p:nvPicPr>
          <p:cNvPr id="36" name="Picture 35" descr="amazonaw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51008" y="3118104"/>
            <a:ext cx="347472" cy="347472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65760" y="4032504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4142232"/>
            <a:ext cx="41148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410565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Config &amp; Automation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44165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Ansible · AWS SSM</a:t>
            </a:r>
          </a:p>
        </p:txBody>
      </p:sp>
      <p:pic>
        <p:nvPicPr>
          <p:cNvPr id="41" name="Picture 40" descr="ansibl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23360" y="4233672"/>
            <a:ext cx="347472" cy="347472"/>
          </a:xfrm>
          <a:prstGeom prst="rect">
            <a:avLst/>
          </a:prstGeom>
        </p:spPr>
      </p:pic>
      <p:pic>
        <p:nvPicPr>
          <p:cNvPr id="42" name="Picture 41" descr="amazonaw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07408" y="4233672"/>
            <a:ext cx="347472" cy="347472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309360" y="4032504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400800" y="4142232"/>
            <a:ext cx="41148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410565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Kubernetes &amp; Helm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44165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Scale · Manage · Deploy</a:t>
            </a:r>
          </a:p>
        </p:txBody>
      </p:sp>
      <p:pic>
        <p:nvPicPr>
          <p:cNvPr id="47" name="Picture 46" descr="kubernete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66960" y="4233672"/>
            <a:ext cx="347472" cy="347472"/>
          </a:xfrm>
          <a:prstGeom prst="rect">
            <a:avLst/>
          </a:prstGeom>
        </p:spPr>
      </p:pic>
      <p:pic>
        <p:nvPicPr>
          <p:cNvPr id="48" name="Picture 47" descr="hel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51008" y="4233672"/>
            <a:ext cx="347472" cy="347472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365760" y="5148072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57200" y="5257800"/>
            <a:ext cx="411480" cy="32004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22122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Security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532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IAM · Scanning · Secrets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09360" y="5148072"/>
            <a:ext cx="566928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00800" y="5257800"/>
            <a:ext cx="411480" cy="32004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#10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522122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Observability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03720" y="55321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Calibri"/>
              </a:rPr>
              <a:t>Prometheus · Grafana · Logs</a:t>
            </a:r>
          </a:p>
        </p:txBody>
      </p:sp>
      <p:pic>
        <p:nvPicPr>
          <p:cNvPr id="57" name="Picture 56" descr="prometheu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966960" y="5349240"/>
            <a:ext cx="347472" cy="347472"/>
          </a:xfrm>
          <a:prstGeom prst="rect">
            <a:avLst/>
          </a:prstGeom>
        </p:spPr>
      </p:pic>
      <p:pic>
        <p:nvPicPr>
          <p:cNvPr id="58" name="Picture 57" descr="grafan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351008" y="5349240"/>
            <a:ext cx="347472" cy="347472"/>
          </a:xfrm>
          <a:prstGeom prst="rect">
            <a:avLst/>
          </a:prstGeom>
        </p:spPr>
      </p:pic>
      <p:sp>
        <p:nvSpPr>
          <p:cNvPr id="59" name="Rounded Rectangle 58"/>
          <p:cNvSpPr/>
          <p:nvPr/>
        </p:nvSpPr>
        <p:spPr>
          <a:xfrm>
            <a:off x="365760" y="6263640"/>
            <a:ext cx="11430000" cy="5029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63367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Calibri"/>
              </a:rPr>
              <a:t>GitOps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2860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ArgoCD · Flux · Git-driven deploys</a:t>
            </a:r>
          </a:p>
        </p:txBody>
      </p:sp>
      <p:pic>
        <p:nvPicPr>
          <p:cNvPr id="62" name="Picture 61" descr="argoc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01200" y="6336792"/>
            <a:ext cx="347472" cy="347472"/>
          </a:xfrm>
          <a:prstGeom prst="rect">
            <a:avLst/>
          </a:prstGeom>
        </p:spPr>
      </p:pic>
      <p:pic>
        <p:nvPicPr>
          <p:cNvPr id="63" name="Picture 62" descr="flux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12680" y="6336792"/>
            <a:ext cx="347472" cy="347472"/>
          </a:xfrm>
          <a:prstGeom prst="rect">
            <a:avLst/>
          </a:prstGeom>
        </p:spPr>
      </p:pic>
      <p:pic>
        <p:nvPicPr>
          <p:cNvPr id="64" name="Picture 63" descr="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24160" y="6336792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Linux  ·  Bash  ·  Git  ·  ~2–3 weeks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1064240" cy="41148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in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2336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Linux</a:t>
            </a:r>
          </a:p>
        </p:txBody>
      </p:sp>
      <p:pic>
        <p:nvPicPr>
          <p:cNvPr id="9" name="Picture 8" descr="ba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28600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216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Bash</a:t>
            </a:r>
          </a:p>
        </p:txBody>
      </p:sp>
      <p:pic>
        <p:nvPicPr>
          <p:cNvPr id="11" name="Picture 10" descr="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2286000"/>
            <a:ext cx="59436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8096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Git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4747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AFC"/>
                </a:solidFill>
                <a:latin typeface="Calibri"/>
              </a:rPr>
              <a:t>▸  Navigate Linux terminals &amp; file systems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977639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AFC"/>
                </a:solidFill>
                <a:latin typeface="Calibri"/>
              </a:rPr>
              <a:t>▸  Automate tasks with Bash scripts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805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8FAFC"/>
                </a:solidFill>
                <a:latin typeface="Calibri"/>
              </a:rPr>
              <a:t>▸  Track code changes with Git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Calibri"/>
              </a:rPr>
              <a:t>Series Days 3–9 cover these in depth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Source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Git for real-world team workflows</a:t>
            </a:r>
          </a:p>
        </p:txBody>
      </p:sp>
      <p:pic>
        <p:nvPicPr>
          <p:cNvPr id="6" name="Picture 5" descr="g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01168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257800" y="29718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Git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3474720"/>
            <a:ext cx="4389120" cy="6858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36118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8FAFC"/>
                </a:solidFill>
                <a:latin typeface="Calibri"/>
              </a:rPr>
              <a:t>Branches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474720"/>
            <a:ext cx="4389120" cy="6858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36118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8FAFC"/>
                </a:solidFill>
                <a:latin typeface="Calibri"/>
              </a:rPr>
              <a:t>Pull Requests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480560"/>
            <a:ext cx="4389120" cy="6858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46177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8FAFC"/>
                </a:solidFill>
                <a:latin typeface="Calibri"/>
              </a:rPr>
              <a:t>Code Reviews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4480560"/>
            <a:ext cx="4389120" cy="6858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46177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8FAFC"/>
                </a:solidFill>
                <a:latin typeface="Calibri"/>
              </a:rPr>
              <a:t>Merge Conflicts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Package apps + dependencies into portable containers</a:t>
            </a:r>
          </a:p>
        </p:txBody>
      </p:sp>
      <p:pic>
        <p:nvPicPr>
          <p:cNvPr id="6" name="Picture 5" descr="do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828800"/>
            <a:ext cx="1005840" cy="1005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257800" y="28803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Docker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566160"/>
            <a:ext cx="1645920" cy="82296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8FAFC"/>
                </a:solidFill>
                <a:latin typeface="Calibri"/>
              </a:rPr>
              <a:t>Your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B923C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3566160"/>
            <a:ext cx="1645920" cy="82296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3703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8FAFC"/>
                </a:solidFill>
                <a:latin typeface="Calibri"/>
              </a:rPr>
              <a:t>Container Image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59" y="3840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B923C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3566160"/>
            <a:ext cx="1645920" cy="82296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3703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8FAFC"/>
                </a:solidFill>
                <a:latin typeface="Calibri"/>
              </a:rPr>
              <a:t>Runs Anywhere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B923C"/>
                </a:solidFill>
                <a:latin typeface="Calibri"/>
              </a:rPr>
              <a:t>Solves: "It works on my machine"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CI / 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Automate build · test · deploy pipelines</a:t>
            </a:r>
          </a:p>
        </p:txBody>
      </p:sp>
      <p:pic>
        <p:nvPicPr>
          <p:cNvPr id="6" name="Picture 5" descr="jenk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210312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Jenkins</a:t>
            </a:r>
          </a:p>
        </p:txBody>
      </p:sp>
      <p:pic>
        <p:nvPicPr>
          <p:cNvPr id="8" name="Picture 7" descr="github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0312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GitHub 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657600"/>
            <a:ext cx="2011680" cy="777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947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8FAFC"/>
                </a:solidFill>
                <a:latin typeface="Calibri"/>
              </a:rPr>
              <a:t>Push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7947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B923C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3657600"/>
            <a:ext cx="2011680" cy="777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39" y="37947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8FAFC"/>
                </a:solidFill>
                <a:latin typeface="Calibri"/>
              </a:rPr>
              <a:t>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19" y="37947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B923C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657600"/>
            <a:ext cx="2011680" cy="777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7947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8FAFC"/>
                </a:solidFill>
                <a:latin typeface="Calibri"/>
              </a:rPr>
              <a:t>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7947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B923C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3657600"/>
            <a:ext cx="2011680" cy="7772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37947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8FAFC"/>
                </a:solidFill>
                <a:latin typeface="Calibri"/>
              </a:rPr>
              <a:t>Deploy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Calibri"/>
              </a:rPr>
              <a:t>Less manual work  ·  Faster releases  ·  Fewer mistakes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Cloud Platforms — 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Core services every DevOps engineer needs</a:t>
            </a:r>
          </a:p>
        </p:txBody>
      </p:sp>
      <p:pic>
        <p:nvPicPr>
          <p:cNvPr id="6" name="Picture 5" descr="amazona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73152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3774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AWS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60320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EC2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Virtual Machines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560320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697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VPC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Networking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560320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697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IAM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Access &amp; Permissions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2560320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26974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3108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Object Storage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069079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2062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ALB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61771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Load Balancer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66160" y="4069079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03320" y="42062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ECS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461771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Containers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4069079"/>
            <a:ext cx="2560320" cy="109728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4206239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ACC15"/>
                </a:solidFill>
                <a:latin typeface="Calibri"/>
              </a:rPr>
              <a:t>EKS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461771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Kubernetes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4A3B8"/>
                </a:solidFill>
                <a:latin typeface="Calibri"/>
              </a:rPr>
              <a:t>One video · One concept · One service at a time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Infrastructure as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Define infrastructure in code — repeatable &amp; version-controlled</a:t>
            </a:r>
          </a:p>
        </p:txBody>
      </p:sp>
      <p:pic>
        <p:nvPicPr>
          <p:cNvPr id="6" name="Picture 5" descr="terra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28600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6616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Terraform</a:t>
            </a:r>
          </a:p>
        </p:txBody>
      </p:sp>
      <p:pic>
        <p:nvPicPr>
          <p:cNvPr id="8" name="Picture 7" descr="amazon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28600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CloudFormation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78BFA"/>
                </a:solidFill>
                <a:latin typeface="Calibri"/>
              </a:rPr>
              <a:t>Code  →  Plan  →  Apply  →  Reusable Infrastructure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Configuration &amp;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Terraform creates it · Ansible configures it</a:t>
            </a:r>
          </a:p>
        </p:txBody>
      </p:sp>
      <p:pic>
        <p:nvPicPr>
          <p:cNvPr id="6" name="Picture 5" descr="ans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28600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6616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Ansible</a:t>
            </a:r>
          </a:p>
        </p:txBody>
      </p:sp>
      <p:pic>
        <p:nvPicPr>
          <p:cNvPr id="8" name="Picture 7" descr="amazon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28600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29260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AWS SSM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Install software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Create 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251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Manage settings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251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Multi-server automation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Kubernetes &amp; Helm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Run, scale &amp; manage containers at production scale</a:t>
            </a:r>
          </a:p>
        </p:txBody>
      </p:sp>
      <p:pic>
        <p:nvPicPr>
          <p:cNvPr id="6" name="Picture 5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10312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6616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Kubernetes</a:t>
            </a:r>
          </a:p>
        </p:txBody>
      </p:sp>
      <p:pic>
        <p:nvPicPr>
          <p:cNvPr id="8" name="Picture 7" descr="hel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0312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Helm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657600"/>
            <a:ext cx="3108960" cy="10058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7947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78BFA"/>
                </a:solidFill>
                <a:latin typeface="Calibri"/>
              </a:rPr>
              <a:t>Auto-restart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1605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Failed containers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3657600"/>
            <a:ext cx="3108960" cy="10058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7947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78BFA"/>
                </a:solidFill>
                <a:latin typeface="Calibri"/>
              </a:rPr>
              <a:t>Auto-scale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41605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Traffic spikes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3657600"/>
            <a:ext cx="3108960" cy="10058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01000" y="37947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78BFA"/>
                </a:solidFill>
                <a:latin typeface="Calibri"/>
              </a:rPr>
              <a:t>Helm charts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41605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App deployment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Protect access, scan for vulnerabilities, stay compliant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011680"/>
            <a:ext cx="941832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200" y="212140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4D399"/>
                </a:solidFill>
                <a:latin typeface="Calibri"/>
              </a:rPr>
              <a:t>IAM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8716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Least privilege · Roles · Policies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246120"/>
            <a:ext cx="941832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0200" y="335584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4D399"/>
                </a:solidFill>
                <a:latin typeface="Calibri"/>
              </a:rPr>
              <a:t>Vulnerability Scanning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72160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Images · Dependencies · Configs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480560"/>
            <a:ext cx="9418320" cy="96012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459028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4D399"/>
                </a:solidFill>
                <a:latin typeface="Calibri"/>
              </a:rPr>
              <a:t>Secrets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95604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Credentials · Keys · Tokens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STOP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Metrics · Dashboards · Logs · Alerts</a:t>
            </a:r>
          </a:p>
        </p:txBody>
      </p:sp>
      <p:pic>
        <p:nvPicPr>
          <p:cNvPr id="6" name="Picture 5" descr="promethe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01168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08960" y="26517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Prometheus</a:t>
            </a:r>
          </a:p>
        </p:txBody>
      </p:sp>
      <p:pic>
        <p:nvPicPr>
          <p:cNvPr id="8" name="Picture 7" descr="graf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201168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94960" y="26517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Grafana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011680"/>
            <a:ext cx="914400" cy="9144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22402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4D399"/>
                </a:solidFill>
                <a:latin typeface="Calibri"/>
              </a:rPr>
              <a:t>Logs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What's happening?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657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Why is it slow?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What broke?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8FAFC"/>
                </a:solidFill>
                <a:latin typeface="Calibri"/>
              </a:rPr>
              <a:t>▸  Alert the team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20040"/>
            <a:ext cx="914400" cy="32004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560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Calibri"/>
              </a:rPr>
              <a:t>Git as the Source of Truth for Deployments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ArgoCD · Flux · Git-driven deploys</a:t>
            </a:r>
          </a:p>
        </p:txBody>
      </p:sp>
      <p:pic>
        <p:nvPicPr>
          <p:cNvPr id="6" name="Picture 5" descr="argo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2103120"/>
            <a:ext cx="5943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3464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ArgoCD</a:t>
            </a:r>
          </a:p>
        </p:txBody>
      </p:sp>
      <p:pic>
        <p:nvPicPr>
          <p:cNvPr id="8" name="Picture 7" descr="flu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103120"/>
            <a:ext cx="5943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3776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Flux</a:t>
            </a:r>
          </a:p>
        </p:txBody>
      </p:sp>
      <p:pic>
        <p:nvPicPr>
          <p:cNvPr id="10" name="Picture 9" descr="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2103120"/>
            <a:ext cx="594360" cy="594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0880" y="27432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Calibri"/>
              </a:rPr>
              <a:t>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78BFA"/>
                </a:solidFill>
                <a:latin typeface="Calibri"/>
              </a:rPr>
              <a:t>Git commit  →  Sync  →  Cluster matches desired state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8FAFC"/>
                </a:solidFill>
                <a:latin typeface="Calibri"/>
              </a:rPr>
              <a:t>The DevOps Goal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286000"/>
            <a:ext cx="2377440" cy="23774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22D3EE"/>
                </a:solidFill>
                <a:latin typeface="Calibri"/>
              </a:rPr>
              <a:t>BUILD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2286000"/>
            <a:ext cx="2377440" cy="23774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0" y="30632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B923C"/>
                </a:solidFill>
                <a:latin typeface="Calibri"/>
              </a:rPr>
              <a:t>AUTOMATE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86000"/>
            <a:ext cx="2377440" cy="23774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30632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34D399"/>
                </a:solidFill>
                <a:latin typeface="Calibri"/>
              </a:rPr>
              <a:t>MONITOR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2286000"/>
            <a:ext cx="2377440" cy="237744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30632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472B6"/>
                </a:solidFill>
                <a:latin typeface="Calibri"/>
              </a:rPr>
              <a:t>DEPLOY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94A3B8"/>
                </a:solidFill>
                <a:latin typeface="Calibri"/>
              </a:rPr>
              <a:t>That's the core of DevOps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8FAFC"/>
                </a:solidFill>
                <a:latin typeface="Calibri"/>
              </a:rPr>
              <a:t>Beyond DevOps → AI &amp; Modern Tech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645920"/>
            <a:ext cx="2926080" cy="9144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019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A5FA"/>
                </a:solidFill>
                <a:latin typeface="Calibri"/>
              </a:rPr>
              <a:t>MLOps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645920"/>
            <a:ext cx="2926080" cy="9144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19019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A5FA"/>
                </a:solidFill>
                <a:latin typeface="Calibri"/>
              </a:rPr>
              <a:t>AI Pipelines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2926080" cy="9144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19019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A5FA"/>
                </a:solidFill>
                <a:latin typeface="Calibri"/>
              </a:rPr>
              <a:t>Local LLMs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3017520"/>
            <a:ext cx="2926080" cy="9144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2735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A5FA"/>
                </a:solidFill>
                <a:latin typeface="Calibri"/>
              </a:rPr>
              <a:t>AI Agents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3017520"/>
            <a:ext cx="2926080" cy="914400"/>
          </a:xfrm>
          <a:prstGeom prst="roundRect">
            <a:avLst/>
          </a:prstGeom>
          <a:solidFill>
            <a:srgbClr val="141E32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735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0A5FA"/>
                </a:solidFill>
                <a:latin typeface="Calibri"/>
              </a:rPr>
              <a:t>Emerging 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Friday Deployment Club — building modern tech skills step by step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472B6"/>
                </a:solidFill>
                <a:latin typeface="Calibri"/>
              </a:rPr>
              <a:t>Day 2 Challenge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1645920"/>
            <a:ext cx="502920" cy="32004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62763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8FAFC"/>
                </a:solidFill>
                <a:latin typeface="Calibri"/>
              </a:rPr>
              <a:t>Screenshot the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2834640"/>
            <a:ext cx="502920" cy="32004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816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8FAFC"/>
                </a:solidFill>
                <a:latin typeface="Calibri"/>
              </a:rPr>
              <a:t>Circle your top 3 topics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4023360"/>
            <a:ext cx="502920" cy="32004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B1120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00507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8FAFC"/>
                </a:solidFill>
                <a:latin typeface="Calibri"/>
              </a:rPr>
              <a:t>Comment them below 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2D3EE"/>
                </a:solidFill>
                <a:latin typeface="Calibri"/>
              </a:rPr>
              <a:t>NEXT → Day 3: Linux Terminal · File System · Live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</a:rPr>
              <a:t>Learn it. Build it. Ship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