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FRIDAY DEPLOYMENT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8FAFC"/>
                </a:solidFill>
                <a:latin typeface="Calibri"/>
              </a:rPr>
              <a:t>DevOps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DAY 2  ·  Your Complete Learning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Calibri"/>
              </a:rPr>
              <a:t>Build  ·  Automate  ·  Monitor  ·  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1E2E"/>
                </a:solidFill>
                <a:latin typeface="Calibri"/>
              </a:rPr>
              <a:t>DevOps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49377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7E"/>
                </a:solidFill>
                <a:latin typeface="Calibri"/>
              </a:rPr>
              <a:t>Beginner’s Guide to Cloud Automation  ·  Friday Deployment Club  ·  Day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804672"/>
            <a:ext cx="164592" cy="128016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7680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E7E"/>
                </a:solidFill>
                <a:latin typeface="Calibri"/>
              </a:rPr>
              <a:t>Foundations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804672"/>
            <a:ext cx="164592" cy="128016"/>
          </a:xfrm>
          <a:prstGeom prst="roundRect">
            <a:avLst/>
          </a:prstGeom>
          <a:solidFill>
            <a:srgbClr val="7C5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2616" y="7680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E7E"/>
                </a:solidFill>
                <a:latin typeface="Calibri"/>
              </a:rPr>
              <a:t>Containers &amp;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804672"/>
            <a:ext cx="164592" cy="128016"/>
          </a:xfrm>
          <a:prstGeom prst="roundRect">
            <a:avLst/>
          </a:prstGeom>
          <a:solidFill>
            <a:srgbClr val="387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5" y="7680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E7E"/>
                </a:solidFill>
                <a:latin typeface="Calibri"/>
              </a:rPr>
              <a:t>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9127" y="804672"/>
            <a:ext cx="164592" cy="128016"/>
          </a:xfrm>
          <a:prstGeom prst="roundRect">
            <a:avLst/>
          </a:prstGeom>
          <a:solidFill>
            <a:srgbClr val="4F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0295" y="7680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E7E"/>
                </a:solidFill>
                <a:latin typeface="Calibri"/>
              </a:rPr>
              <a:t>Infra &amp; 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7" y="804672"/>
            <a:ext cx="164592" cy="128016"/>
          </a:xfrm>
          <a:prstGeom prst="roundRect">
            <a:avLst/>
          </a:prstGeom>
          <a:solidFill>
            <a:srgbClr val="22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7680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6E7E"/>
                </a:solidFill>
                <a:latin typeface="Calibri"/>
              </a:rPr>
              <a:t>Security &amp; Monitoring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79927" y="1783079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31839" y="1783079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983751" y="1783079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3079927" y="3593591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6031839" y="3593591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983751" y="3593591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3079927" y="5404103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031839" y="5404103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983751" y="5404103"/>
            <a:ext cx="128015" cy="146304"/>
          </a:xfrm>
          <a:prstGeom prst="rightArrow">
            <a:avLst/>
          </a:prstGeom>
          <a:solidFill>
            <a:srgbClr val="B8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" y="1024128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1024128"/>
            <a:ext cx="91440" cy="1664207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" y="1133856"/>
            <a:ext cx="438912" cy="25603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1115568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Foundations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1371600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Linux · Bash · Git</a:t>
            </a:r>
          </a:p>
        </p:txBody>
      </p:sp>
      <p:pic>
        <p:nvPicPr>
          <p:cNvPr id="29" name="Picture 28" descr="lin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899" y="1664208"/>
            <a:ext cx="365760" cy="365760"/>
          </a:xfrm>
          <a:prstGeom prst="rect">
            <a:avLst/>
          </a:prstGeom>
        </p:spPr>
      </p:pic>
      <p:pic>
        <p:nvPicPr>
          <p:cNvPr id="30" name="Picture 29" descr="b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099" y="1664208"/>
            <a:ext cx="365760" cy="365760"/>
          </a:xfrm>
          <a:prstGeom prst="rect">
            <a:avLst/>
          </a:prstGeom>
        </p:spPr>
      </p:pic>
      <p:pic>
        <p:nvPicPr>
          <p:cNvPr id="31" name="Picture 30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299" y="1664208"/>
            <a:ext cx="365760" cy="3657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226231" y="1024128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26231" y="1024128"/>
            <a:ext cx="91440" cy="1664207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90823" y="1133856"/>
            <a:ext cx="438912" cy="256032"/>
          </a:xfrm>
          <a:prstGeom prst="round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4599" y="1115568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Source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4599" y="1371600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Branches · PRs · Reviews</a:t>
            </a:r>
          </a:p>
        </p:txBody>
      </p:sp>
      <p:pic>
        <p:nvPicPr>
          <p:cNvPr id="37" name="Picture 36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411" y="1664208"/>
            <a:ext cx="365760" cy="365760"/>
          </a:xfrm>
          <a:prstGeom prst="rect">
            <a:avLst/>
          </a:prstGeom>
        </p:spPr>
      </p:pic>
      <p:pic>
        <p:nvPicPr>
          <p:cNvPr id="38" name="Picture 37" descr="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611" y="1664208"/>
            <a:ext cx="365760" cy="36576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178143" y="1024128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78143" y="1024128"/>
            <a:ext cx="91440" cy="1664207"/>
          </a:xfrm>
          <a:prstGeom prst="roundRect">
            <a:avLst/>
          </a:prstGeom>
          <a:solidFill>
            <a:srgbClr val="7C5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42735" y="1133856"/>
            <a:ext cx="438912" cy="256032"/>
          </a:xfrm>
          <a:prstGeom prst="roundRect">
            <a:avLst/>
          </a:prstGeom>
          <a:solidFill>
            <a:srgbClr val="7C5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6511" y="1115568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Containerization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6511" y="1371600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Docker &amp; Images</a:t>
            </a:r>
          </a:p>
        </p:txBody>
      </p:sp>
      <p:pic>
        <p:nvPicPr>
          <p:cNvPr id="44" name="Picture 43" descr="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923" y="1664208"/>
            <a:ext cx="365760" cy="36576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130055" y="1024128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30055" y="1024128"/>
            <a:ext cx="91440" cy="1664207"/>
          </a:xfrm>
          <a:prstGeom prst="roundRect">
            <a:avLst/>
          </a:prstGeom>
          <a:solidFill>
            <a:srgbClr val="7C5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94647" y="1133856"/>
            <a:ext cx="438912" cy="256032"/>
          </a:xfrm>
          <a:prstGeom prst="roundRect">
            <a:avLst/>
          </a:prstGeom>
          <a:solidFill>
            <a:srgbClr val="7C5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8423" y="1115568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CI / 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8423" y="1371600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Jenkins · GitHub Actions</a:t>
            </a:r>
          </a:p>
        </p:txBody>
      </p:sp>
      <p:pic>
        <p:nvPicPr>
          <p:cNvPr id="50" name="Picture 49" descr="jenki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2235" y="1664208"/>
            <a:ext cx="365760" cy="365760"/>
          </a:xfrm>
          <a:prstGeom prst="rect">
            <a:avLst/>
          </a:prstGeom>
        </p:spPr>
      </p:pic>
      <p:pic>
        <p:nvPicPr>
          <p:cNvPr id="51" name="Picture 50" descr="githubacti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9435" y="1664208"/>
            <a:ext cx="365760" cy="365760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74320" y="2834639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74320" y="2834639"/>
            <a:ext cx="91440" cy="1664207"/>
          </a:xfrm>
          <a:prstGeom prst="roundRect">
            <a:avLst/>
          </a:prstGeom>
          <a:solidFill>
            <a:srgbClr val="387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8912" y="2944368"/>
            <a:ext cx="438912" cy="256032"/>
          </a:xfrm>
          <a:prstGeom prst="roundRect">
            <a:avLst/>
          </a:prstGeom>
          <a:solidFill>
            <a:srgbClr val="387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" y="2926079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Cloud Platforms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3182111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EC2 · VPC · IAM · S3 · ECS/EKS</a:t>
            </a:r>
          </a:p>
        </p:txBody>
      </p:sp>
      <p:pic>
        <p:nvPicPr>
          <p:cNvPr id="57" name="Picture 56" descr="amazonaw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899" y="3474720"/>
            <a:ext cx="365760" cy="365760"/>
          </a:xfrm>
          <a:prstGeom prst="rect">
            <a:avLst/>
          </a:prstGeom>
        </p:spPr>
      </p:pic>
      <p:pic>
        <p:nvPicPr>
          <p:cNvPr id="58" name="Picture 57" descr="google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5099" y="3474720"/>
            <a:ext cx="365760" cy="365760"/>
          </a:xfrm>
          <a:prstGeom prst="rect">
            <a:avLst/>
          </a:prstGeom>
        </p:spPr>
      </p:pic>
      <p:pic>
        <p:nvPicPr>
          <p:cNvPr id="59" name="Picture 58" descr="microsoftazu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2299" y="3474720"/>
            <a:ext cx="365760" cy="36576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3226231" y="2834639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226231" y="2834639"/>
            <a:ext cx="91440" cy="1664207"/>
          </a:xfrm>
          <a:prstGeom prst="roundRect">
            <a:avLst/>
          </a:prstGeom>
          <a:solidFill>
            <a:srgbClr val="4F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390823" y="2944368"/>
            <a:ext cx="438912" cy="256032"/>
          </a:xfrm>
          <a:prstGeom prst="roundRect">
            <a:avLst/>
          </a:prstGeom>
          <a:solidFill>
            <a:srgbClr val="4F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4599" y="2926079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Infrastructure as Code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4599" y="3182111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Terraform · CloudFormation</a:t>
            </a:r>
          </a:p>
        </p:txBody>
      </p:sp>
      <p:pic>
        <p:nvPicPr>
          <p:cNvPr id="65" name="Picture 64" descr="terrafor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8411" y="3474720"/>
            <a:ext cx="365760" cy="365760"/>
          </a:xfrm>
          <a:prstGeom prst="rect">
            <a:avLst/>
          </a:prstGeom>
        </p:spPr>
      </p:pic>
      <p:pic>
        <p:nvPicPr>
          <p:cNvPr id="66" name="Picture 65" descr="cloudformati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5611" y="3474720"/>
            <a:ext cx="365760" cy="365760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6178143" y="2834639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178143" y="2834639"/>
            <a:ext cx="91440" cy="1664207"/>
          </a:xfrm>
          <a:prstGeom prst="roundRect">
            <a:avLst/>
          </a:prstGeom>
          <a:solidFill>
            <a:srgbClr val="4F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342735" y="2944368"/>
            <a:ext cx="438912" cy="256032"/>
          </a:xfrm>
          <a:prstGeom prst="roundRect">
            <a:avLst/>
          </a:prstGeom>
          <a:solidFill>
            <a:srgbClr val="4F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36511" y="2926079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Config &amp; Automation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6511" y="3182111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Ansible · AWS SSM</a:t>
            </a:r>
          </a:p>
        </p:txBody>
      </p:sp>
      <p:pic>
        <p:nvPicPr>
          <p:cNvPr id="72" name="Picture 71" descr="ansib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8923" y="3474720"/>
            <a:ext cx="365760" cy="36576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9130055" y="2834639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130055" y="2834639"/>
            <a:ext cx="91440" cy="1664207"/>
          </a:xfrm>
          <a:prstGeom prst="roundRect">
            <a:avLst/>
          </a:prstGeom>
          <a:solidFill>
            <a:srgbClr val="4F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294647" y="2944368"/>
            <a:ext cx="438912" cy="256032"/>
          </a:xfrm>
          <a:prstGeom prst="roundRect">
            <a:avLst/>
          </a:prstGeom>
          <a:solidFill>
            <a:srgbClr val="4F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8423" y="2926079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Kubernetes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8423" y="3182111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K8s · Helm</a:t>
            </a:r>
          </a:p>
        </p:txBody>
      </p:sp>
      <p:pic>
        <p:nvPicPr>
          <p:cNvPr id="78" name="Picture 77" descr="kubernete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2235" y="3474720"/>
            <a:ext cx="365760" cy="365760"/>
          </a:xfrm>
          <a:prstGeom prst="rect">
            <a:avLst/>
          </a:prstGeom>
        </p:spPr>
      </p:pic>
      <p:pic>
        <p:nvPicPr>
          <p:cNvPr id="79" name="Picture 78" descr="hel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9435" y="3474720"/>
            <a:ext cx="365760" cy="365760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274320" y="4645151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74320" y="4645151"/>
            <a:ext cx="91440" cy="1664207"/>
          </a:xfrm>
          <a:prstGeom prst="roundRect">
            <a:avLst/>
          </a:prstGeom>
          <a:solidFill>
            <a:srgbClr val="22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38912" y="4754879"/>
            <a:ext cx="438912" cy="256032"/>
          </a:xfrm>
          <a:prstGeom prst="roundRect">
            <a:avLst/>
          </a:prstGeom>
          <a:solidFill>
            <a:srgbClr val="22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09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" y="4736591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Security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4992623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IAM · Scanning · Secrets</a:t>
            </a:r>
          </a:p>
        </p:txBody>
      </p:sp>
      <p:pic>
        <p:nvPicPr>
          <p:cNvPr id="85" name="Picture 84" descr="securit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85099" y="5285231"/>
            <a:ext cx="365760" cy="36576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3226231" y="4645151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226231" y="4645151"/>
            <a:ext cx="91440" cy="1664207"/>
          </a:xfrm>
          <a:prstGeom prst="roundRect">
            <a:avLst/>
          </a:prstGeom>
          <a:solidFill>
            <a:srgbClr val="22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390823" y="4754879"/>
            <a:ext cx="438912" cy="256032"/>
          </a:xfrm>
          <a:prstGeom prst="roundRect">
            <a:avLst/>
          </a:prstGeom>
          <a:solidFill>
            <a:srgbClr val="22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4599" y="4736591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Observability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84599" y="4992623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Prometheus · Grafana · Logs</a:t>
            </a:r>
          </a:p>
        </p:txBody>
      </p:sp>
      <p:pic>
        <p:nvPicPr>
          <p:cNvPr id="91" name="Picture 90" descr="prometheu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08411" y="5285231"/>
            <a:ext cx="365760" cy="365760"/>
          </a:xfrm>
          <a:prstGeom prst="rect">
            <a:avLst/>
          </a:prstGeom>
        </p:spPr>
      </p:pic>
      <p:pic>
        <p:nvPicPr>
          <p:cNvPr id="92" name="Picture 91" descr="grafan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65611" y="5285231"/>
            <a:ext cx="365760" cy="365760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6178143" y="4645151"/>
            <a:ext cx="2787319" cy="166420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178143" y="4645151"/>
            <a:ext cx="91440" cy="1664207"/>
          </a:xfrm>
          <a:prstGeom prst="roundRect">
            <a:avLst/>
          </a:prstGeom>
          <a:solidFill>
            <a:srgbClr val="22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342735" y="4754879"/>
            <a:ext cx="438912" cy="256032"/>
          </a:xfrm>
          <a:prstGeom prst="roundRect">
            <a:avLst/>
          </a:prstGeom>
          <a:solidFill>
            <a:srgbClr val="22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Calibri"/>
              </a:rPr>
              <a:t>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36511" y="4736591"/>
            <a:ext cx="2010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E"/>
                </a:solidFill>
                <a:latin typeface="Calibri"/>
              </a:rPr>
              <a:t>GitOps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6511" y="4992623"/>
            <a:ext cx="2010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E7E"/>
                </a:solidFill>
                <a:latin typeface="Calibri"/>
              </a:rPr>
              <a:t>ArgoCD · Flux</a:t>
            </a:r>
          </a:p>
        </p:txBody>
      </p:sp>
      <p:pic>
        <p:nvPicPr>
          <p:cNvPr id="98" name="Picture 97" descr="argoc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1723" y="5285231"/>
            <a:ext cx="365760" cy="365760"/>
          </a:xfrm>
          <a:prstGeom prst="rect">
            <a:avLst/>
          </a:prstGeom>
        </p:spPr>
      </p:pic>
      <p:pic>
        <p:nvPicPr>
          <p:cNvPr id="99" name="Picture 98" descr="flux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88923" y="5285231"/>
            <a:ext cx="365760" cy="365760"/>
          </a:xfrm>
          <a:prstGeom prst="rect">
            <a:avLst/>
          </a:prstGeom>
        </p:spPr>
      </p:pic>
      <p:pic>
        <p:nvPicPr>
          <p:cNvPr id="100" name="Picture 99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123" y="5285231"/>
            <a:ext cx="365760" cy="36576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9130055" y="4645151"/>
            <a:ext cx="2787319" cy="1664207"/>
          </a:xfrm>
          <a:prstGeom prst="roundRect">
            <a:avLst/>
          </a:prstGeom>
          <a:solidFill>
            <a:srgbClr val="14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130055" y="4645151"/>
            <a:ext cx="91440" cy="1664207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31223" y="4754879"/>
            <a:ext cx="2467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Calibri"/>
              </a:rPr>
              <a:t>GOAL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31223" y="5010912"/>
            <a:ext cx="2467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Build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31223" y="5303520"/>
            <a:ext cx="2467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Automate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31223" y="5596127"/>
            <a:ext cx="2467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Monitor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31223" y="5888736"/>
            <a:ext cx="2467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Deploy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74320" y="6419088"/>
            <a:ext cx="11640312" cy="347472"/>
          </a:xfrm>
          <a:prstGeom prst="roundRect">
            <a:avLst/>
          </a:prstGeom>
          <a:solidFill>
            <a:srgbClr val="14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11480" y="644652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Calibri"/>
              </a:rPr>
              <a:t>Build   ·   Automate   ·   Monitor   ·   Deploy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78240" y="6446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Kethan Gummalla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Calibri"/>
              </a:rPr>
              <a:t>The DevOps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5 phases  ·  10 stops  ·  One learning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48840" cy="4206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86868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Linux · Bash · Git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18211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1 Foundations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68503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2 Source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417320"/>
            <a:ext cx="2148840" cy="4206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53512" y="1554480"/>
            <a:ext cx="868680" cy="320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9659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Containers &amp;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Docker · Jenkins · GitHub Actions</a:t>
            </a:r>
          </a:p>
        </p:txBody>
      </p:sp>
      <p:sp>
        <p:nvSpPr>
          <p:cNvPr id="16" name="Oval 15"/>
          <p:cNvSpPr/>
          <p:nvPr/>
        </p:nvSpPr>
        <p:spPr>
          <a:xfrm>
            <a:off x="2999232" y="3182112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3 Containerization</a:t>
            </a:r>
          </a:p>
        </p:txBody>
      </p:sp>
      <p:sp>
        <p:nvSpPr>
          <p:cNvPr id="18" name="Oval 17"/>
          <p:cNvSpPr/>
          <p:nvPr/>
        </p:nvSpPr>
        <p:spPr>
          <a:xfrm>
            <a:off x="2999232" y="3685032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4 CI/CD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9784" y="1417320"/>
            <a:ext cx="2148840" cy="4206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66944" y="1554480"/>
            <a:ext cx="868680" cy="32004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19659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AWS Core Services</a:t>
            </a:r>
          </a:p>
        </p:txBody>
      </p:sp>
      <p:sp>
        <p:nvSpPr>
          <p:cNvPr id="24" name="Oval 23"/>
          <p:cNvSpPr/>
          <p:nvPr/>
        </p:nvSpPr>
        <p:spPr>
          <a:xfrm>
            <a:off x="5312664" y="3182112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2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5 Cloud Platforms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43216" y="1417320"/>
            <a:ext cx="2148840" cy="4206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80376" y="1554480"/>
            <a:ext cx="8686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19659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Infrastructure &amp; 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IaC · Config · K8s · GitOps</a:t>
            </a:r>
          </a:p>
        </p:txBody>
      </p:sp>
      <p:sp>
        <p:nvSpPr>
          <p:cNvPr id="30" name="Oval 29"/>
          <p:cNvSpPr/>
          <p:nvPr/>
        </p:nvSpPr>
        <p:spPr>
          <a:xfrm>
            <a:off x="7626096" y="318211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7264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6 IaC</a:t>
            </a:r>
          </a:p>
        </p:txBody>
      </p:sp>
      <p:sp>
        <p:nvSpPr>
          <p:cNvPr id="32" name="Oval 31"/>
          <p:cNvSpPr/>
          <p:nvPr/>
        </p:nvSpPr>
        <p:spPr>
          <a:xfrm>
            <a:off x="7626096" y="368503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4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7 Config</a:t>
            </a:r>
          </a:p>
        </p:txBody>
      </p:sp>
      <p:sp>
        <p:nvSpPr>
          <p:cNvPr id="34" name="Oval 33"/>
          <p:cNvSpPr/>
          <p:nvPr/>
        </p:nvSpPr>
        <p:spPr>
          <a:xfrm>
            <a:off x="7626096" y="418795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8 Kubernetes</a:t>
            </a:r>
          </a:p>
        </p:txBody>
      </p:sp>
      <p:sp>
        <p:nvSpPr>
          <p:cNvPr id="36" name="Oval 35"/>
          <p:cNvSpPr/>
          <p:nvPr/>
        </p:nvSpPr>
        <p:spPr>
          <a:xfrm>
            <a:off x="7626096" y="4690872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27264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10 GitOps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56648" y="1417320"/>
            <a:ext cx="2148840" cy="4206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93808" y="1554480"/>
            <a:ext cx="8686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PHASE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9659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Security &amp;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251460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Secure · Observe · Alert</a:t>
            </a:r>
          </a:p>
        </p:txBody>
      </p:sp>
      <p:sp>
        <p:nvSpPr>
          <p:cNvPr id="42" name="Oval 41"/>
          <p:cNvSpPr/>
          <p:nvPr/>
        </p:nvSpPr>
        <p:spPr>
          <a:xfrm>
            <a:off x="9939528" y="318211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0696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9 Security</a:t>
            </a:r>
          </a:p>
        </p:txBody>
      </p:sp>
      <p:sp>
        <p:nvSpPr>
          <p:cNvPr id="44" name="Oval 43"/>
          <p:cNvSpPr/>
          <p:nvPr/>
        </p:nvSpPr>
        <p:spPr>
          <a:xfrm>
            <a:off x="9939528" y="368503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0696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alibri"/>
              </a:rPr>
              <a:t>10 Observability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806440"/>
            <a:ext cx="11155680" cy="685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72B6"/>
                </a:solidFill>
                <a:latin typeface="Calibri"/>
              </a:rPr>
              <a:t>GOAL →  BUILD   ·   AUTOMATE   ·   MONITOR   ·   DEPLOY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Calibri"/>
              </a:rPr>
              <a:t>DEVOPS ROADMAP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85800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795528"/>
            <a:ext cx="41148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58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69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Linux · Bash · Git</a:t>
            </a:r>
          </a:p>
        </p:txBody>
      </p:sp>
      <p:pic>
        <p:nvPicPr>
          <p:cNvPr id="7" name="Picture 6" descr="lin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886968"/>
            <a:ext cx="347472" cy="347472"/>
          </a:xfrm>
          <a:prstGeom prst="rect">
            <a:avLst/>
          </a:prstGeom>
        </p:spPr>
      </p:pic>
      <p:pic>
        <p:nvPicPr>
          <p:cNvPr id="8" name="Picture 7" descr="b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886968"/>
            <a:ext cx="347472" cy="347472"/>
          </a:xfrm>
          <a:prstGeom prst="rect">
            <a:avLst/>
          </a:prstGeom>
        </p:spPr>
      </p:pic>
      <p:pic>
        <p:nvPicPr>
          <p:cNvPr id="9" name="Picture 8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886968"/>
            <a:ext cx="347472" cy="347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685800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795528"/>
            <a:ext cx="41148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758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Source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0698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Branches · PRs · Reviews</a:t>
            </a:r>
          </a:p>
        </p:txBody>
      </p:sp>
      <p:pic>
        <p:nvPicPr>
          <p:cNvPr id="14" name="Picture 13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886968"/>
            <a:ext cx="347472" cy="34747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65760" y="1801368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911096"/>
            <a:ext cx="411480" cy="320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874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Containerization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54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Docker</a:t>
            </a:r>
          </a:p>
        </p:txBody>
      </p:sp>
      <p:pic>
        <p:nvPicPr>
          <p:cNvPr id="19" name="Picture 18" descr="doc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002536"/>
            <a:ext cx="347472" cy="34747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309360" y="1801368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911096"/>
            <a:ext cx="411480" cy="320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874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CI / 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1854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Jenkins · GH Actions</a:t>
            </a:r>
          </a:p>
        </p:txBody>
      </p:sp>
      <p:pic>
        <p:nvPicPr>
          <p:cNvPr id="24" name="Picture 23" descr="jenk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2002536"/>
            <a:ext cx="347472" cy="347472"/>
          </a:xfrm>
          <a:prstGeom prst="rect">
            <a:avLst/>
          </a:prstGeom>
        </p:spPr>
      </p:pic>
      <p:pic>
        <p:nvPicPr>
          <p:cNvPr id="25" name="Picture 24" descr="githubac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1008" y="2002536"/>
            <a:ext cx="347472" cy="34747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65760" y="2916936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026664"/>
            <a:ext cx="411480" cy="32004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Cloud — AWS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300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EC2 · VPC · IAM · S3 · ECS · EKS</a:t>
            </a:r>
          </a:p>
        </p:txBody>
      </p:sp>
      <p:pic>
        <p:nvPicPr>
          <p:cNvPr id="30" name="Picture 29" descr="amazona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0" y="3118104"/>
            <a:ext cx="347472" cy="347472"/>
          </a:xfrm>
          <a:prstGeom prst="rect">
            <a:avLst/>
          </a:prstGeom>
        </p:spPr>
      </p:pic>
      <p:pic>
        <p:nvPicPr>
          <p:cNvPr id="31" name="Picture 30" descr="googleclou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7408" y="3118104"/>
            <a:ext cx="347472" cy="347472"/>
          </a:xfrm>
          <a:prstGeom prst="rect">
            <a:avLst/>
          </a:prstGeom>
        </p:spPr>
      </p:pic>
      <p:pic>
        <p:nvPicPr>
          <p:cNvPr id="32" name="Picture 31" descr="microsoftazu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456" y="3118104"/>
            <a:ext cx="347472" cy="34747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09360" y="2916936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3026664"/>
            <a:ext cx="4114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Infrastructure as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300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Terraform · CloudFormation</a:t>
            </a:r>
          </a:p>
        </p:txBody>
      </p:sp>
      <p:pic>
        <p:nvPicPr>
          <p:cNvPr id="37" name="Picture 36" descr="terrafor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6960" y="3118104"/>
            <a:ext cx="347472" cy="347472"/>
          </a:xfrm>
          <a:prstGeom prst="rect">
            <a:avLst/>
          </a:prstGeom>
        </p:spPr>
      </p:pic>
      <p:pic>
        <p:nvPicPr>
          <p:cNvPr id="38" name="Picture 37" descr="cloudform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51008" y="3118104"/>
            <a:ext cx="347472" cy="34747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365760" y="4032504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4142232"/>
            <a:ext cx="4114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1056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Config &amp; Automation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416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Ansible · AWS SSM</a:t>
            </a:r>
          </a:p>
        </p:txBody>
      </p:sp>
      <p:pic>
        <p:nvPicPr>
          <p:cNvPr id="43" name="Picture 42" descr="ansib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3360" y="4233672"/>
            <a:ext cx="347472" cy="347472"/>
          </a:xfrm>
          <a:prstGeom prst="rect">
            <a:avLst/>
          </a:prstGeom>
        </p:spPr>
      </p:pic>
      <p:pic>
        <p:nvPicPr>
          <p:cNvPr id="44" name="Picture 43" descr="amazona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8" y="4233672"/>
            <a:ext cx="347472" cy="34747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309360" y="4032504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0" y="4142232"/>
            <a:ext cx="4114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1056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Kubernetes &amp; Helm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416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Scale · Manage · Deploy</a:t>
            </a:r>
          </a:p>
        </p:txBody>
      </p:sp>
      <p:pic>
        <p:nvPicPr>
          <p:cNvPr id="49" name="Picture 48" descr="kubernete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6960" y="4233672"/>
            <a:ext cx="347472" cy="347472"/>
          </a:xfrm>
          <a:prstGeom prst="rect">
            <a:avLst/>
          </a:prstGeom>
        </p:spPr>
      </p:pic>
      <p:pic>
        <p:nvPicPr>
          <p:cNvPr id="50" name="Picture 49" descr="helm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51008" y="4233672"/>
            <a:ext cx="347472" cy="347472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365760" y="5148072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57200" y="5257800"/>
            <a:ext cx="4114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2212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Security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5532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IAM · Scanning · Secrets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5148072"/>
            <a:ext cx="566928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0" y="5257800"/>
            <a:ext cx="4114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#10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52212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Observability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5532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Prometheus · Grafana · Logs</a:t>
            </a:r>
          </a:p>
        </p:txBody>
      </p:sp>
      <p:pic>
        <p:nvPicPr>
          <p:cNvPr id="59" name="Picture 58" descr="prometheu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66960" y="5349240"/>
            <a:ext cx="347472" cy="347472"/>
          </a:xfrm>
          <a:prstGeom prst="rect">
            <a:avLst/>
          </a:prstGeom>
        </p:spPr>
      </p:pic>
      <p:pic>
        <p:nvPicPr>
          <p:cNvPr id="60" name="Picture 59" descr="grafan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51008" y="5349240"/>
            <a:ext cx="347472" cy="34747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365760" y="6263640"/>
            <a:ext cx="11430000" cy="5029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336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GitOps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ArgoCD · Flux · Git-driven deploys</a:t>
            </a:r>
          </a:p>
        </p:txBody>
      </p:sp>
      <p:pic>
        <p:nvPicPr>
          <p:cNvPr id="64" name="Picture 63" descr="argoc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01200" y="6336792"/>
            <a:ext cx="347472" cy="347472"/>
          </a:xfrm>
          <a:prstGeom prst="rect">
            <a:avLst/>
          </a:prstGeom>
        </p:spPr>
      </p:pic>
      <p:pic>
        <p:nvPicPr>
          <p:cNvPr id="65" name="Picture 64" descr="flux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12680" y="6336792"/>
            <a:ext cx="347472" cy="347472"/>
          </a:xfrm>
          <a:prstGeom prst="rect">
            <a:avLst/>
          </a:prstGeom>
        </p:spPr>
      </p:pic>
      <p:pic>
        <p:nvPicPr>
          <p:cNvPr id="66" name="Picture 65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6336792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Linux  ·  Bash  ·  Git  ·  ~2–3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4114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n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23360" y="2926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Linux</a:t>
            </a:r>
          </a:p>
        </p:txBody>
      </p:sp>
      <p:pic>
        <p:nvPicPr>
          <p:cNvPr id="9" name="Picture 8" descr="b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28600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2926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Bash</a:t>
            </a:r>
          </a:p>
        </p:txBody>
      </p:sp>
      <p:pic>
        <p:nvPicPr>
          <p:cNvPr id="11" name="Picture 10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286000"/>
            <a:ext cx="59436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2926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▸  Navigate Linux terminals &amp; file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▸  Automate tasks with Bash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▸  Track code changes with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Series Days 3–9 cover these in depth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Git for real-world team workflows</a:t>
            </a:r>
          </a:p>
        </p:txBody>
      </p:sp>
      <p:pic>
        <p:nvPicPr>
          <p:cNvPr id="6" name="Picture 5" descr="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01168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2971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4389120" cy="685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611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Branches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74720"/>
            <a:ext cx="4389120" cy="685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611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Pull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4389120" cy="685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617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Code Reviews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480560"/>
            <a:ext cx="4389120" cy="6858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617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Merge Conflicts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Package apps + dependencies into portable containers</a:t>
            </a:r>
          </a:p>
        </p:txBody>
      </p:sp>
      <p:pic>
        <p:nvPicPr>
          <p:cNvPr id="6" name="Picture 5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2880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1645920" cy="82296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Your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B923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566160"/>
            <a:ext cx="1645920" cy="82296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703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Container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B923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566160"/>
            <a:ext cx="1645920" cy="82296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3703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Runs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923C"/>
                </a:solidFill>
                <a:latin typeface="Calibri"/>
              </a:rPr>
              <a:t>Solves: "It works on my machine"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CI /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Automate build · test · deploy pipelines</a:t>
            </a:r>
          </a:p>
        </p:txBody>
      </p:sp>
      <p:pic>
        <p:nvPicPr>
          <p:cNvPr id="6" name="Picture 5" descr="jenk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10312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0" y="2743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Jenkins</a:t>
            </a:r>
          </a:p>
        </p:txBody>
      </p:sp>
      <p:pic>
        <p:nvPicPr>
          <p:cNvPr id="8" name="Picture 7" descr="github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2743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2011680" cy="777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Calibri"/>
              </a:rPr>
              <a:t>Push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9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B923C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657600"/>
            <a:ext cx="2011680" cy="777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794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Calibri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379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B923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2011680" cy="777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Calibri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9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B923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3657600"/>
            <a:ext cx="2011680" cy="7772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3794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Calibri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Less manual work  ·  Faster releases  ·  Fewer mistakes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Cloud Platforms —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Core services every DevOps engineer needs</a:t>
            </a:r>
          </a:p>
        </p:txBody>
      </p:sp>
      <p:pic>
        <p:nvPicPr>
          <p:cNvPr id="6" name="Picture 5" descr="amazon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21945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AWS</a:t>
            </a:r>
          </a:p>
        </p:txBody>
      </p:sp>
      <p:pic>
        <p:nvPicPr>
          <p:cNvPr id="8" name="Picture 7" descr="google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55448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21945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GCP</a:t>
            </a:r>
          </a:p>
        </p:txBody>
      </p:sp>
      <p:pic>
        <p:nvPicPr>
          <p:cNvPr id="10" name="Picture 9" descr="microsoftaz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554480"/>
            <a:ext cx="59436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49840" y="21945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Azure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2560320" cy="10972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ACC15"/>
                </a:solidFill>
                <a:latin typeface="Calibri"/>
              </a:rPr>
              <a:t>EC2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Virtual Machines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560320"/>
            <a:ext cx="2560320" cy="10972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ACC15"/>
                </a:solidFill>
                <a:latin typeface="Calibri"/>
              </a:rPr>
              <a:t>VPC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Networking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560320"/>
            <a:ext cx="2560320" cy="10972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ACC15"/>
                </a:solidFill>
                <a:latin typeface="Calibri"/>
              </a:rPr>
              <a:t>IAM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Access &amp;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560320"/>
            <a:ext cx="2560320" cy="10972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ACC15"/>
                </a:solidFill>
                <a:latin typeface="Calibri"/>
              </a:rPr>
              <a:t>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Object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69079"/>
            <a:ext cx="2560320" cy="10972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062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ACC15"/>
                </a:solidFill>
                <a:latin typeface="Calibri"/>
              </a:rPr>
              <a:t>ALB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177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Load Balancer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069079"/>
            <a:ext cx="2560320" cy="10972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42062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ACC15"/>
                </a:solidFill>
                <a:latin typeface="Calibri"/>
              </a:rPr>
              <a:t>ECS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6177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Containers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069079"/>
            <a:ext cx="2560320" cy="10972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2062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ACC15"/>
                </a:solidFill>
                <a:latin typeface="Calibri"/>
              </a:rPr>
              <a:t>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177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Kubernetes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One video · One concept · One service at a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Define infrastructure in code — repeatable &amp; version-controlled</a:t>
            </a:r>
          </a:p>
        </p:txBody>
      </p:sp>
      <p:pic>
        <p:nvPicPr>
          <p:cNvPr id="6" name="Picture 5" descr="terra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160" y="2926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Terraform</a:t>
            </a:r>
          </a:p>
        </p:txBody>
      </p:sp>
      <p:pic>
        <p:nvPicPr>
          <p:cNvPr id="8" name="Picture 7" descr="cloudfo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2926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CloudFormation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78BFA"/>
                </a:solidFill>
                <a:latin typeface="Calibri"/>
              </a:rPr>
              <a:t>Code  →  Plan  →  Apply  →  Reusable 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Configuration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Terraform creates it · Ansible configures it</a:t>
            </a:r>
          </a:p>
        </p:txBody>
      </p:sp>
      <p:pic>
        <p:nvPicPr>
          <p:cNvPr id="6" name="Picture 5" descr="an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160" y="2926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Ansible</a:t>
            </a:r>
          </a:p>
        </p:txBody>
      </p:sp>
      <p:pic>
        <p:nvPicPr>
          <p:cNvPr id="8" name="Picture 7" descr="amazon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2926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AWS SSM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Install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Create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Manage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Multi-server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Kubernetes &amp;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Run, scale &amp; manage containers at production scale</a:t>
            </a:r>
          </a:p>
        </p:txBody>
      </p:sp>
      <p:pic>
        <p:nvPicPr>
          <p:cNvPr id="6" name="Picture 5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0312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160" y="2743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Kubernetes</a:t>
            </a:r>
          </a:p>
        </p:txBody>
      </p:sp>
      <p:pic>
        <p:nvPicPr>
          <p:cNvPr id="8" name="Picture 7" descr="he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2743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Helm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3108960" cy="10058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Calibri"/>
              </a:rPr>
              <a:t>Auto-restart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Failed containers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657600"/>
            <a:ext cx="3108960" cy="10058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794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Calibri"/>
              </a:rPr>
              <a:t>Auto-scale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160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Traffic spikes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657600"/>
            <a:ext cx="3108960" cy="10058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794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Calibri"/>
              </a:rPr>
              <a:t>Helm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160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App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Protect access, scan for vulnerabilities, stay compliant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12140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IAM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871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Least privilege · Roles ·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46120"/>
            <a:ext cx="941832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33558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Vulnerability Scanning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72160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Images · Dependencies · Configs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9418320" cy="96012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459028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Secrets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9560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Credentials · Keys · Tokens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STOP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Metrics · Dashboards · Logs · Alerts</a:t>
            </a:r>
          </a:p>
        </p:txBody>
      </p:sp>
      <p:pic>
        <p:nvPicPr>
          <p:cNvPr id="6" name="Picture 5" descr="promethe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1168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26517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Prometheus</a:t>
            </a:r>
          </a:p>
        </p:txBody>
      </p:sp>
      <p:pic>
        <p:nvPicPr>
          <p:cNvPr id="8" name="Picture 7" descr="graf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01168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26517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Grafana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914400" cy="914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4D399"/>
                </a:solidFill>
                <a:latin typeface="Calibri"/>
              </a:rPr>
              <a:t>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What's happening?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Why is it slow?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What broke?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Calibri"/>
              </a:rPr>
              <a:t>▸  Alert the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91440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560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Git as the Source of Truth for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ArgoCD · Flux · Git-driven deploys</a:t>
            </a:r>
          </a:p>
        </p:txBody>
      </p:sp>
      <p:pic>
        <p:nvPicPr>
          <p:cNvPr id="6" name="Picture 5" descr="argo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10312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2743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ArgoCD</a:t>
            </a:r>
          </a:p>
        </p:txBody>
      </p:sp>
      <p:pic>
        <p:nvPicPr>
          <p:cNvPr id="8" name="Picture 7" descr="fl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0312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2743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Flux</a:t>
            </a:r>
          </a:p>
        </p:txBody>
      </p:sp>
      <p:pic>
        <p:nvPicPr>
          <p:cNvPr id="10" name="Picture 9" descr="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103120"/>
            <a:ext cx="59436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2743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78BFA"/>
                </a:solidFill>
                <a:latin typeface="Calibri"/>
              </a:rPr>
              <a:t>Git commit  →  Sync  →  Cluster matches desired 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8FAFC"/>
                </a:solidFill>
                <a:latin typeface="Calibri"/>
              </a:rPr>
              <a:t>The DevOps Goal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2377440" cy="23774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D3EE"/>
                </a:solidFill>
                <a:latin typeface="Calibri"/>
              </a:rPr>
              <a:t>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286000"/>
            <a:ext cx="2377440" cy="23774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3063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B923C"/>
                </a:solidFill>
                <a:latin typeface="Calibri"/>
              </a:rPr>
              <a:t>AUTOMATE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2377440" cy="23774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063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4D399"/>
                </a:solidFill>
                <a:latin typeface="Calibri"/>
              </a:rPr>
              <a:t>MONITOR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286000"/>
            <a:ext cx="2377440" cy="23774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3063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472B6"/>
                </a:solidFill>
                <a:latin typeface="Calibri"/>
              </a:rPr>
              <a:t>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That's the core of DevOps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Calibri"/>
              </a:rPr>
              <a:t>Beyond DevOps → AI &amp; Modern Tech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926080" cy="914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019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A5FA"/>
                </a:solidFill>
                <a:latin typeface="Calibri"/>
              </a:rPr>
              <a:t>MLOps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2926080" cy="914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9019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A5FA"/>
                </a:solidFill>
                <a:latin typeface="Calibri"/>
              </a:rPr>
              <a:t>AI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2926080" cy="914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9019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A5FA"/>
                </a:solidFill>
                <a:latin typeface="Calibri"/>
              </a:rPr>
              <a:t>Local LLMs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017520"/>
            <a:ext cx="2926080" cy="914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A5FA"/>
                </a:solidFill>
                <a:latin typeface="Calibri"/>
              </a:rPr>
              <a:t>AI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20"/>
            <a:ext cx="2926080" cy="9144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2735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A5FA"/>
                </a:solidFill>
                <a:latin typeface="Calibri"/>
              </a:rPr>
              <a:t>Emerging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Friday Deployment Club — building modern tech skills step by step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72B6"/>
                </a:solidFill>
                <a:latin typeface="Calibri"/>
              </a:rPr>
              <a:t>Day 2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645920"/>
            <a:ext cx="502920" cy="3200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6276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8FAFC"/>
                </a:solidFill>
                <a:latin typeface="Calibri"/>
              </a:rPr>
              <a:t>Screenshot the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834640"/>
            <a:ext cx="502920" cy="3200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816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8FAFC"/>
                </a:solidFill>
                <a:latin typeface="Calibri"/>
              </a:rPr>
              <a:t>Circle your top 3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023360"/>
            <a:ext cx="502920" cy="3200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00507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8FAFC"/>
                </a:solidFill>
                <a:latin typeface="Calibri"/>
              </a:rPr>
              <a:t>Comment them below 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D3EE"/>
                </a:solidFill>
                <a:latin typeface="Calibri"/>
              </a:rPr>
              <a:t>NEXT → Day 3: Linux Terminal · File System ·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Learn it. Build it. Ship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